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we’ll discuss AI Agents, MCP, and Agentic AI — not from a coding view, but what they mean strategically for us at Fiserv.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no longer just hype. It’s becoming part of IT strategy, especially in financial services where compliance and speed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are not just chatbots. They can take actions: fetch data, analyze, and respond intelligently.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Fiserv, this means automating repetitive IT and compliance tasks, boosting productivity without replacing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standardizes how AI securely interacts with tools, APIs, and data, ensuring compliance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prevents uncontrolled AI usage. We get all the efficiency benefits but keep compliance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AI is about orchestration: agents working together, making decisions, and calling tools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reduces turnaround time and ensures consistency. Perfect for regulated onboarding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manual triage, the agent can resolve simple issues or route critical ones to IT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has risks. But with guardrails like governance, explainability, and approvals, we can use it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Managers don’t need to code. They need to guide adoption: where AI fits, and how to control its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managers to think of AI agents as part of their strategy toolbox, not just tech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must be controlled in finance. Governance ensures AI actions are traceable, compliant with GDPR and AML/KYC, and free from hidden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Adopting AI isn’t big-bang. Start with a pilot (e.g. onboarding), prove ROI, review compliance, then scale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doesn’t replace staff. It helps. Example: AI flags a suspicious transaction, but compliance officer makes the final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IT managers, this is where AI feels most tangible: agents that watch systems 24/7, fix small issues, and escalate bigger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future is AI agents collaborating across systems, using secure standards, and pulling knowledge from trusted company data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outcomes, not tricks. Define desired format, constraints, and success criteria. Treat prompts as product requirements that can be versioned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patterns that reduce risk and variability. Always specify format (e.g., JSON/YAML), escalation rules, and source citation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engineering is curating and piping authoritative data into the model during inference so answers are grounded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data flows: ingestion (ETL), indexing (vector/graph), retrieval (filters + metadata), and governance (PII handling, TTL).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Prompts set expectations; context supplies proof. Both must be governed and versioned like code and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prompts/configs part of release management. Define SLAs for knowledge freshness. Use MCP tools to fetch and cite authoritative sources at run-time.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small: 3–4 high-impact use cases with measurable KPIs. Roll into a governance review before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Agents, MCP, and Agentic AI</a:t>
            </a:r>
          </a:p>
          <a:p>
            <a:r>
              <a:t>What IT Managers Need to Know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Fiserv Germany | Internal IT Managers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Efficiency pressures</a:t>
            </a:r>
          </a:p>
          <a:p>
            <a:pPr>
              <a:defRPr sz="1800"/>
            </a:pPr>
            <a:r>
              <a:t>Compliance requirements</a:t>
            </a:r>
          </a:p>
          <a:p>
            <a:pPr>
              <a:defRPr sz="1800"/>
            </a:pPr>
            <a:r>
              <a:t>Competitive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Software entities powered by AI</a:t>
            </a:r>
          </a:p>
          <a:p>
            <a:pPr>
              <a:defRPr sz="1800"/>
            </a:pPr>
            <a:r>
              <a:t>They perceive, reason, and act</a:t>
            </a:r>
          </a:p>
          <a:p>
            <a:pPr>
              <a:defRPr sz="1800"/>
            </a:pPr>
            <a:r>
              <a:t>Analogy: junior colleague who can handle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Agents matter for Fiserv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Automating log analysis</a:t>
            </a:r>
          </a:p>
          <a:p>
            <a:pPr>
              <a:defRPr sz="1800"/>
            </a:pPr>
            <a:r>
              <a:t>Faster KYC checks</a:t>
            </a:r>
          </a:p>
          <a:p>
            <a:pPr>
              <a:defRPr sz="1800"/>
            </a:pPr>
            <a:r>
              <a:t>Merchant onboarding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Context Protocol (MCP)</a:t>
            </a:r>
          </a:p>
          <a:p>
            <a:pPr>
              <a:defRPr sz="1800"/>
            </a:pPr>
            <a:r>
              <a:t>Secure adapter between AI and enterprise tools</a:t>
            </a:r>
          </a:p>
          <a:p>
            <a:pPr>
              <a:defRPr sz="1800"/>
            </a:pPr>
            <a:r>
              <a:t>Think: universal plug-and-play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 matters in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Security &amp; governance</a:t>
            </a:r>
          </a:p>
          <a:p>
            <a:pPr>
              <a:defRPr sz="1800"/>
            </a:pPr>
            <a:r>
              <a:t>Auditability</a:t>
            </a:r>
          </a:p>
          <a:p>
            <a:pPr>
              <a:defRPr sz="1800"/>
            </a:pPr>
            <a:r>
              <a:t>Controlled AI access to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Agents that plan, collaborate, and orchestrate</a:t>
            </a:r>
          </a:p>
          <a:p>
            <a:pPr>
              <a:defRPr sz="1800"/>
            </a:pPr>
            <a:r>
              <a:t>Multiple agents solving complex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Example: Merchant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Upload docs</a:t>
            </a:r>
          </a:p>
          <a:p>
            <a:pPr>
              <a:defRPr sz="1800"/>
            </a:pPr>
            <a:r>
              <a:t>Step 2: Agent extracts data</a:t>
            </a:r>
          </a:p>
          <a:p>
            <a:pPr>
              <a:defRPr sz="1800"/>
            </a:pPr>
            <a:r>
              <a:t>Step 3: Call KYC API</a:t>
            </a:r>
          </a:p>
          <a:p>
            <a:pPr>
              <a:defRPr sz="1800"/>
            </a:pPr>
            <a:r>
              <a:t>Step 4: Compliance check</a:t>
            </a:r>
          </a:p>
          <a:p>
            <a:pPr>
              <a:defRPr sz="1800"/>
            </a:pPr>
            <a:r>
              <a:t>Step 5: Output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Example: IT Ops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Logs generate alert</a:t>
            </a:r>
          </a:p>
          <a:p>
            <a:pPr>
              <a:defRPr sz="1800"/>
            </a:pPr>
            <a:r>
              <a:t>Step 2: Agent triages</a:t>
            </a:r>
          </a:p>
          <a:p>
            <a:pPr>
              <a:defRPr sz="1800"/>
            </a:pPr>
            <a:r>
              <a:t>Step 3: Auto-fix or escalate</a:t>
            </a:r>
          </a:p>
          <a:p>
            <a:pPr>
              <a:defRPr sz="1800"/>
            </a:pPr>
            <a:r>
              <a:t>Step 4: Manager notified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Risks: Hallucinations, GDPR issues, Shadow IT</a:t>
            </a:r>
          </a:p>
          <a:p>
            <a:pPr>
              <a:defRPr sz="1800"/>
            </a:pPr>
            <a:r>
              <a:t>Mitigations: Governance, human-in-loop, explainability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Identify where agents save time</a:t>
            </a:r>
          </a:p>
          <a:p>
            <a:pPr>
              <a:defRPr sz="1800"/>
            </a:pPr>
            <a:r>
              <a:t>Start with low-risk pilots</a:t>
            </a:r>
          </a:p>
          <a:p>
            <a:pPr>
              <a:defRPr sz="1800"/>
            </a:pPr>
            <a:r>
              <a:t>Governance &amp; compliance from day 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Agents + MCP + Agentic AI = Strategic Lever</a:t>
            </a:r>
          </a:p>
          <a:p>
            <a:pPr>
              <a:defRPr sz="1800"/>
            </a:pPr>
            <a:r>
              <a:t>Next steps: Identify pilot areas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Governance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Audit trails for agent actions</a:t>
            </a:r>
          </a:p>
          <a:p>
            <a:pPr>
              <a:defRPr sz="1800"/>
            </a:pPr>
            <a:r>
              <a:t>Explainability &amp; transparency</a:t>
            </a:r>
          </a:p>
          <a:p>
            <a:pPr>
              <a:defRPr sz="1800"/>
            </a:pPr>
            <a:r>
              <a:t>Bias detection &amp; fairness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Adoption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Small pilots</a:t>
            </a:r>
          </a:p>
          <a:p>
            <a:pPr>
              <a:defRPr sz="1800"/>
            </a:pPr>
            <a:r>
              <a:t>Step 2: ROI &amp; compliance checks</a:t>
            </a:r>
          </a:p>
          <a:p>
            <a:pPr>
              <a:defRPr sz="1800"/>
            </a:pPr>
            <a:r>
              <a:t>Step 3: Scale with governance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(HITL)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assists, humans approve</a:t>
            </a:r>
          </a:p>
          <a:p>
            <a:pPr>
              <a:defRPr sz="1800"/>
            </a:pPr>
            <a:r>
              <a:t>Critical decisions always require human review</a:t>
            </a:r>
          </a:p>
          <a:p>
            <a:pPr>
              <a:defRPr sz="1800"/>
            </a:pPr>
            <a:r>
              <a:t>Reassures compliance &amp;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IT Operations (AIOps)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Monitor logs &amp; detect anomalies</a:t>
            </a:r>
          </a:p>
          <a:p>
            <a:pPr>
              <a:defRPr sz="1800"/>
            </a:pPr>
            <a:r>
              <a:t>Auto-fix simple issues</a:t>
            </a:r>
          </a:p>
          <a:p>
            <a:pPr>
              <a:defRPr sz="1800"/>
            </a:pPr>
            <a:r>
              <a:t>Escalate unknowns to managers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Multi-agent systems</a:t>
            </a:r>
          </a:p>
          <a:p>
            <a:pPr>
              <a:defRPr sz="1800"/>
            </a:pPr>
            <a:r>
              <a:t>Standardization: MCP, A2A, ADK</a:t>
            </a:r>
          </a:p>
          <a:p>
            <a:pPr>
              <a:defRPr sz="1800"/>
            </a:pPr>
            <a:r>
              <a:t>Agentic RAG with knowledge graphs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— Manager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Purpose: steer model behavior towards business outcomes</a:t>
            </a:r>
          </a:p>
          <a:p>
            <a:pPr>
              <a:defRPr sz="1800"/>
            </a:pPr>
            <a:r>
              <a:t>Keep prompts simple, structured, and testable</a:t>
            </a:r>
          </a:p>
          <a:p>
            <a:pPr>
              <a:defRPr sz="1800"/>
            </a:pPr>
            <a:r>
              <a:t>Attach policies: tone, format, compliance reminders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Prompt Patterns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Role + Objective: “You are a Fiserv Compliance Assistant… output a risk summary (YAML).”</a:t>
            </a:r>
          </a:p>
          <a:p>
            <a:pPr>
              <a:defRPr sz="1800"/>
            </a:pPr>
            <a:r>
              <a:t>Checklist Guardrails: “Verify GDPR data categories; cite sources; if unsure, escalate.”</a:t>
            </a:r>
          </a:p>
          <a:p>
            <a:pPr>
              <a:defRPr sz="1800"/>
            </a:pPr>
            <a:r>
              <a:t>Few-shot Templates: include 1–2 accepted examples to show ideal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Engineering — What &amp;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Right data in the prompt, at the right time</a:t>
            </a:r>
          </a:p>
          <a:p>
            <a:pPr>
              <a:defRPr sz="1800"/>
            </a:pPr>
            <a:r>
              <a:t>Ground the model in trusted, up-to-date enterprise knowledge</a:t>
            </a:r>
          </a:p>
          <a:p>
            <a:pPr>
              <a:defRPr sz="1800"/>
            </a:pPr>
            <a:r>
              <a:t>Improves accuracy; reduces hallucinations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Sources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Sources: policies, KBs, tickets, logs, APIs, databases</a:t>
            </a:r>
          </a:p>
          <a:p>
            <a:pPr>
              <a:defRPr sz="1800"/>
            </a:pPr>
            <a:r>
              <a:t>Lifecycle: ingest → index → retrieve → filter → cite → retain/forget</a:t>
            </a:r>
          </a:p>
          <a:p>
            <a:pPr>
              <a:defRPr sz="1800"/>
            </a:pPr>
            <a:r>
              <a:t>Controls: data minimization, PII redaction, retention policies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vs Context — Who does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Prompt: intent, role, format, policies (the ask)</a:t>
            </a:r>
          </a:p>
          <a:p>
            <a:pPr>
              <a:defRPr sz="1800"/>
            </a:pPr>
            <a:r>
              <a:t>Context: facts, records, examples (the evidence)</a:t>
            </a:r>
          </a:p>
          <a:p>
            <a:pPr>
              <a:defRPr sz="1800"/>
            </a:pPr>
            <a:r>
              <a:t>Together: reliable, auditable outputs for managers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Operationalizing Prompt &amp; Context at Fiserv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Version prompts; A/B test and lint for compliance</a:t>
            </a:r>
          </a:p>
          <a:p>
            <a:pPr>
              <a:defRPr sz="1800"/>
            </a:pPr>
            <a:r>
              <a:t>Govern context: source of truth, freshness SLAs, citations</a:t>
            </a:r>
          </a:p>
          <a:p>
            <a:pPr>
              <a:defRPr sz="1800"/>
            </a:pPr>
            <a:r>
              <a:t>Plug into Agents via MCP: tools fetch context on-demand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Wins (Next 30–60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Standard prompt templates for tickets, MR reviews, KYC memos</a:t>
            </a:r>
          </a:p>
          <a:p>
            <a:pPr>
              <a:defRPr sz="1800"/>
            </a:pPr>
            <a:r>
              <a:t>Context packs: policy snippets + API docs with metadata</a:t>
            </a:r>
          </a:p>
          <a:p>
            <a:pPr>
              <a:defRPr sz="1800"/>
            </a:pPr>
            <a:r>
              <a:t>Measurement: accuracy, time saved, escalation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